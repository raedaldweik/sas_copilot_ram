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00"/>
            <a:ext cx="11423599" cy="5623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397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61207" y="713232"/>
            <a:ext cx="5669280" cy="566928"/>
          </a:xfrm>
          <a:prstGeom prst="roundRect">
            <a:avLst>
              <a:gd name="adj" fmla="val 50000"/>
            </a:avLst>
          </a:prstGeom>
          <a:solidFill>
            <a:srgbClr val="0B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61207" y="713232"/>
            <a:ext cx="56692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INVESTIGATION ASSISTANT  ·  ALERT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89888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From a queue of alerts to a plan of action — before the first coffee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10512"/>
            <a:ext cx="6522415" cy="822960"/>
          </a:xfrm>
          <a:prstGeom prst="roundRect">
            <a:avLst>
              <a:gd name="adj" fmla="val 16000"/>
            </a:avLst>
          </a:prstGeom>
          <a:solidFill>
            <a:srgbClr val="0B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10512"/>
            <a:ext cx="59737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Investigation Assistant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AFC2DA"/>
                </a:solidFill>
                <a:latin typeface="Arial"/>
              </a:rPr>
              <a:t>triage copilot for SAS Visual Investigator — reads, explains, prioritizes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76589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3AA0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Prioritized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What to open first —
and why it matters today.</a:t>
            </a:r>
          </a:p>
        </p:txBody>
      </p:sp>
      <p:sp>
        <p:nvSpPr>
          <p:cNvPr id="13" name="Chevron 12"/>
          <p:cNvSpPr/>
          <p:nvPr/>
        </p:nvSpPr>
        <p:spPr>
          <a:xfrm>
            <a:off x="3340531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1976589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4667897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9987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1E8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4579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Alert, Explained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2867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Why it fired, in plain
language an auditor can read.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1839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4667897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7359205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0F6E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Network, Mapped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People, companies, accounts —
and how they connect.</a:t>
            </a:r>
          </a:p>
        </p:txBody>
      </p:sp>
      <p:sp>
        <p:nvSpPr>
          <p:cNvPr id="25" name="Chevron 24"/>
          <p:cNvSpPr/>
          <p:nvPr/>
        </p:nvSpPr>
        <p:spPr>
          <a:xfrm>
            <a:off x="8723147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7359205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10050513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42603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0B5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195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Action, Recommended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483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Probable false positive or
escalate — with next steps.</a:t>
            </a:r>
          </a:p>
        </p:txBody>
      </p:sp>
      <p:sp>
        <p:nvSpPr>
          <p:cNvPr id="31" name="Up Arrow 30"/>
          <p:cNvSpPr/>
          <p:nvPr/>
        </p:nvSpPr>
        <p:spPr>
          <a:xfrm>
            <a:off x="10050513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5413248"/>
            <a:ext cx="10454335" cy="566928"/>
          </a:xfrm>
          <a:prstGeom prst="roundRect">
            <a:avLst>
              <a:gd name="adj" fmla="val 18000"/>
            </a:avLst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13248"/>
            <a:ext cx="99971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B2242"/>
                </a:solidFill>
                <a:latin typeface="Arial"/>
              </a:rPr>
              <a:t>SAS Visual Investigator  ·  Live Alerts, Entities &amp; Networks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The agent works the same queue your investigators see — every call it makes is visible in the trace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9107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00"/>
            <a:ext cx="11423599" cy="5623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397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9687" y="713232"/>
            <a:ext cx="7132320" cy="566928"/>
          </a:xfrm>
          <a:prstGeom prst="roundRect">
            <a:avLst>
              <a:gd name="adj" fmla="val 50000"/>
            </a:avLst>
          </a:prstGeom>
          <a:solidFill>
            <a:srgbClr val="0B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29687" y="713232"/>
            <a:ext cx="71323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PROCUREMENT INTEGRITY ANALYST  ·  RED FLAGS BEFORE AWARD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89888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Ready-made analytics over tenders, bids, suppliers, and invoices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10512"/>
            <a:ext cx="6522415" cy="822960"/>
          </a:xfrm>
          <a:prstGeom prst="roundRect">
            <a:avLst>
              <a:gd name="adj" fmla="val 16000"/>
            </a:avLst>
          </a:prstGeom>
          <a:solidFill>
            <a:srgbClr val="0B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10512"/>
            <a:ext cx="59737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Procurement Integrity Analyst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AFC2DA"/>
                </a:solidFill>
                <a:latin typeface="Arial"/>
              </a:rPr>
              <a:t>a watchdog over every tender — answers with numbers and charts, not opinions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76589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43A8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Supplier Risk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One score per supplier,
built from eight risk signals.</a:t>
            </a:r>
          </a:p>
        </p:txBody>
      </p:sp>
      <p:sp>
        <p:nvSpPr>
          <p:cNvPr id="13" name="Chevron 12"/>
          <p:cNvSpPr/>
          <p:nvPr/>
        </p:nvSpPr>
        <p:spPr>
          <a:xfrm>
            <a:off x="3340531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1976589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4667897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9987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2B9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4579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Bid-Rigging Screen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2867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Rotation rings and cover
bids across related firms.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1839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4667897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7359205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157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Price Anomalies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Overpricing vs the market
benchmark, quantified.</a:t>
            </a:r>
          </a:p>
        </p:txBody>
      </p:sp>
      <p:sp>
        <p:nvSpPr>
          <p:cNvPr id="25" name="Chevron 24"/>
          <p:cNvSpPr/>
          <p:nvPr/>
        </p:nvSpPr>
        <p:spPr>
          <a:xfrm>
            <a:off x="8723147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7359205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10050513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42603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0C5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195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Threshold &amp; Invoice Checks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483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Split purchases under limits,
duplicate invoices.</a:t>
            </a:r>
          </a:p>
        </p:txBody>
      </p:sp>
      <p:sp>
        <p:nvSpPr>
          <p:cNvPr id="31" name="Up Arrow 30"/>
          <p:cNvSpPr/>
          <p:nvPr/>
        </p:nvSpPr>
        <p:spPr>
          <a:xfrm>
            <a:off x="10050513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5413248"/>
            <a:ext cx="10454335" cy="566928"/>
          </a:xfrm>
          <a:prstGeom prst="roundRect">
            <a:avLst>
              <a:gd name="adj" fmla="val 18000"/>
            </a:avLst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13248"/>
            <a:ext cx="99971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B2242"/>
                </a:solidFill>
                <a:latin typeface="Arial"/>
              </a:rPr>
              <a:t>Governed Procurement Data  ·  Tenders · Bids · Suppliers · Invoices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Every figure the agent quotes is traceable to a query you can inspect — drill into any number in chat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9107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457200"/>
            <a:ext cx="11423599" cy="56235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3970">
            <a:solidFill>
              <a:srgbClr val="D9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15487" y="713232"/>
            <a:ext cx="5760720" cy="566928"/>
          </a:xfrm>
          <a:prstGeom prst="roundRect">
            <a:avLst>
              <a:gd name="adj" fmla="val 50000"/>
            </a:avLst>
          </a:prstGeom>
          <a:solidFill>
            <a:srgbClr val="0B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15487" y="713232"/>
            <a:ext cx="5760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GLOBAL INTELLIGENCE  ·  EYES ON THE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89888"/>
            <a:ext cx="94484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6B7280"/>
                </a:solidFill>
                <a:latin typeface="Arial"/>
              </a:rPr>
              <a:t>What other governments are doing — and what it means for NCGR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810512"/>
            <a:ext cx="6522415" cy="822960"/>
          </a:xfrm>
          <a:prstGeom prst="roundRect">
            <a:avLst>
              <a:gd name="adj" fmla="val 16000"/>
            </a:avLst>
          </a:prstGeom>
          <a:solidFill>
            <a:srgbClr val="0B22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1810512"/>
            <a:ext cx="597377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Global Intelligence Agent</a:t>
            </a:r>
          </a:p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AFC2DA"/>
                </a:solidFill>
                <a:latin typeface="Arial"/>
              </a:rPr>
              <a:t>scans news and publications worldwide — every answer arrives with its sources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76589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D99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Country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How peers run AI-driven
oversight — Korea, Brazil, EU…</a:t>
            </a:r>
          </a:p>
        </p:txBody>
      </p:sp>
      <p:sp>
        <p:nvSpPr>
          <p:cNvPr id="13" name="Chevron 12"/>
          <p:cNvSpPr/>
          <p:nvPr/>
        </p:nvSpPr>
        <p:spPr>
          <a:xfrm>
            <a:off x="3340531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1976589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4667897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59987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C08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24579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Emerging Technology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2867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What's new, summarized —
and what it means for you.</a:t>
            </a:r>
          </a:p>
        </p:txBody>
      </p:sp>
      <p:sp>
        <p:nvSpPr>
          <p:cNvPr id="19" name="Chevron 18"/>
          <p:cNvSpPr/>
          <p:nvPr/>
        </p:nvSpPr>
        <p:spPr>
          <a:xfrm>
            <a:off x="6031839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Up Arrow 19"/>
          <p:cNvSpPr/>
          <p:nvPr/>
        </p:nvSpPr>
        <p:spPr>
          <a:xfrm>
            <a:off x="4667897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7359205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1295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A66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Topic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4175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A standing watch on the
themes you care about.</a:t>
            </a:r>
          </a:p>
        </p:txBody>
      </p:sp>
      <p:sp>
        <p:nvSpPr>
          <p:cNvPr id="25" name="Chevron 24"/>
          <p:cNvSpPr/>
          <p:nvPr/>
        </p:nvSpPr>
        <p:spPr>
          <a:xfrm>
            <a:off x="8723147" y="3936491"/>
            <a:ext cx="146304" cy="164592"/>
          </a:xfrm>
          <a:prstGeom prst="chevron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Up Arrow 25"/>
          <p:cNvSpPr/>
          <p:nvPr/>
        </p:nvSpPr>
        <p:spPr>
          <a:xfrm>
            <a:off x="7359205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10050513" y="2761488"/>
            <a:ext cx="164592" cy="274320"/>
          </a:xfrm>
          <a:prstGeom prst="down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42603" y="3127248"/>
            <a:ext cx="2380411" cy="1783080"/>
          </a:xfrm>
          <a:prstGeom prst="roundRect">
            <a:avLst>
              <a:gd name="adj" fmla="val 9000"/>
            </a:avLst>
          </a:prstGeom>
          <a:solidFill>
            <a:srgbClr val="8A57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07195" y="3328416"/>
            <a:ext cx="20512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Cited 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483" y="3931920"/>
            <a:ext cx="2014651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F2F6FB"/>
                </a:solidFill>
                <a:latin typeface="Arial"/>
              </a:rPr>
              <a:t>Open the original article
behind any claim, one click.</a:t>
            </a:r>
          </a:p>
        </p:txBody>
      </p:sp>
      <p:sp>
        <p:nvSpPr>
          <p:cNvPr id="31" name="Up Arrow 30"/>
          <p:cNvSpPr/>
          <p:nvPr/>
        </p:nvSpPr>
        <p:spPr>
          <a:xfrm>
            <a:off x="10050513" y="5020056"/>
            <a:ext cx="164592" cy="274320"/>
          </a:xfrm>
          <a:prstGeom prst="upArrow">
            <a:avLst/>
          </a:prstGeom>
          <a:solidFill>
            <a:srgbClr val="C9C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68680" y="5413248"/>
            <a:ext cx="10454335" cy="566928"/>
          </a:xfrm>
          <a:prstGeom prst="roundRect">
            <a:avLst>
              <a:gd name="adj" fmla="val 18000"/>
            </a:avLst>
          </a:prstGeom>
          <a:solidFill>
            <a:srgbClr val="E9E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413248"/>
            <a:ext cx="999713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1" i="0">
                <a:solidFill>
                  <a:srgbClr val="0B2242"/>
                </a:solidFill>
                <a:latin typeface="Arial"/>
              </a:rPr>
              <a:t>Live Web &amp; News Search</a:t>
            </a:r>
          </a:p>
          <a:p>
            <a:pPr algn="ctr">
              <a:spcAft>
                <a:spcPts val="0"/>
              </a:spcAft>
            </a:pPr>
            <a:r>
              <a:rPr sz="850" b="0" i="0">
                <a:solidFill>
                  <a:srgbClr val="6B7280"/>
                </a:solidFill>
                <a:latin typeface="Arial"/>
              </a:rPr>
              <a:t>Grounded and current — the agent quotes what it read, links it, and never invents a source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9107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Company Confidential — For Internal Use Only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9AA5B1"/>
                </a:solidFill>
                <a:latin typeface="Arial"/>
              </a:rPr>
              <a:t>Copyright © SAS Institute Inc.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NCGR Agent Slides — Investigation · Procurement · Global Intelligence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