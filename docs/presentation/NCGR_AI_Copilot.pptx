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g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02920"/>
            <a:ext cx="960120" cy="960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1847088"/>
            <a:ext cx="548640" cy="50292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084831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FC1F2"/>
                </a:solidFill>
                <a:latin typeface="Arial"/>
              </a:rPr>
              <a:t>SAS MIDDLE EAST  ·  AGENTIC AI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87168"/>
            <a:ext cx="11064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The NCGR AI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93008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FC1F2"/>
                </a:solidFill>
                <a:latin typeface="Arial"/>
              </a:rPr>
              <a:t>«مُعين»</a:t>
            </a:r>
            <a:r>
              <a:rPr sz="1700" b="0" i="0">
                <a:solidFill>
                  <a:srgbClr val="8FC1F2"/>
                </a:solidFill>
                <a:latin typeface="Arial"/>
              </a:rPr>
              <a:t>   —   One assistant. Four specialist agents. Your platform, your data, your choice of AI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42432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National Center for Government Resources Systems (NCGR)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FC2DA"/>
                </a:solidFill>
                <a:latin typeface="Arial"/>
              </a:rPr>
              <a:t>SAS Middle East  · 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sas.com   ·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Your Copilot, On Your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3565A"/>
                </a:solidFill>
                <a:latin typeface="Arial"/>
              </a:rPr>
              <a:t>A conversational assistant for NCGR — the convenience of a copilot, without giving up control of your data or your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3529584" cy="3246120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3529584" cy="82296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31720"/>
            <a:ext cx="29443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766D1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907792"/>
            <a:ext cx="29443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32954"/>
                </a:solidFill>
                <a:latin typeface="Arial"/>
              </a:rPr>
              <a:t>Your choice of AI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29584"/>
            <a:ext cx="29443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A37"/>
                </a:solidFill>
                <a:latin typeface="Arial"/>
              </a:rPr>
              <a:t>Works with the AI model you choose — in the cloud today, fully on-premises tomorrow. Swap it at any time; nothing else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965960"/>
            <a:ext cx="3529584" cy="3246120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965960"/>
            <a:ext cx="3529584" cy="82296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331720"/>
            <a:ext cx="29443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766D1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907792"/>
            <a:ext cx="29443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32954"/>
                </a:solidFill>
                <a:latin typeface="Arial"/>
              </a:rPr>
              <a:t>The full power of SAS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529584"/>
            <a:ext cx="29443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A37"/>
                </a:solidFill>
                <a:latin typeface="Arial"/>
              </a:rPr>
              <a:t>Every answer is produced by your governed SAS platform — real data, real models, real dashboards. Not a chatbot’s opinion.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965960"/>
            <a:ext cx="3529584" cy="3246120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965960"/>
            <a:ext cx="3529584" cy="82296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331720"/>
            <a:ext cx="29443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766D1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907792"/>
            <a:ext cx="29443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32954"/>
                </a:solidFill>
                <a:latin typeface="Arial"/>
              </a:rPr>
              <a:t>Trust you can 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529584"/>
            <a:ext cx="29443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A37"/>
                </a:solidFill>
                <a:latin typeface="Arial"/>
              </a:rPr>
              <a:t>Every answer shows the steps and data behind it — and the whole experience switches between English and Arabic at one click.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ED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69279"/>
            <a:ext cx="50292" cy="3840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5457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Why it matters —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the copilot experience your teams want, on the sovereignty terms the Kingdom requires.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ONE CHAT · FOUR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Meet Your AI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2670048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2670048" cy="82296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74519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766D1"/>
                </a:solidFill>
                <a:latin typeface="Arial"/>
              </a:rPr>
              <a:t>AGENT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76272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SAS Viya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632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A37"/>
                </a:solidFill>
                <a:latin typeface="Arial"/>
              </a:rPr>
              <a:t>Your front door to the SAS platform — data, models, and dashboards on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600200"/>
            <a:ext cx="2670048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2" y="1600200"/>
            <a:ext cx="2670048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1874519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7490"/>
                </a:solidFill>
                <a:latin typeface="Arial"/>
              </a:rPr>
              <a:t>AGENT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176272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Investigation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0632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A37"/>
                </a:solidFill>
                <a:latin typeface="Arial"/>
              </a:rPr>
              <a:t>Triage for SAS Visual Investigator — priorities, context, and next steps for every alert.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600200"/>
            <a:ext cx="2670048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1600200"/>
            <a:ext cx="2670048" cy="82296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19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6E4F"/>
                </a:solidFill>
                <a:latin typeface="Arial"/>
              </a:rPr>
              <a:t>AGENT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76272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Procurement Integrity Analyst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A37"/>
                </a:solidFill>
                <a:latin typeface="Arial"/>
              </a:rPr>
              <a:t>A watchdog over tenders, bids, suppliers, and invoices — with ready risk models.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00200"/>
            <a:ext cx="2670048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600200"/>
            <a:ext cx="2670048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6024" y="1874519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45309"/>
                </a:solidFill>
                <a:latin typeface="Arial"/>
              </a:rPr>
              <a:t>AGENT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176272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Global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0632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A37"/>
                </a:solidFill>
                <a:latin typeface="Arial"/>
              </a:rPr>
              <a:t>What the world is doing — news, benchmarks, and trends, always with 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983480"/>
            <a:ext cx="11057839" cy="658368"/>
          </a:xfrm>
          <a:prstGeom prst="roundRect">
            <a:avLst>
              <a:gd name="adj" fmla="val 12000"/>
            </a:avLst>
          </a:prstGeom>
          <a:solidFill>
            <a:srgbClr val="032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983480"/>
            <a:ext cx="104726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One chat window — pick the agent from a dropdown.  </a:t>
            </a:r>
            <a:r>
              <a:rPr sz="1250" b="0" i="0">
                <a:solidFill>
                  <a:srgbClr val="8FC1F2"/>
                </a:solidFill>
                <a:latin typeface="Arial"/>
              </a:rPr>
              <a:t>Every agent works in English or Arabic, shows its reasoning trail, and answers with charts — not just 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870448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ED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961888"/>
            <a:ext cx="50292" cy="3840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70448"/>
            <a:ext cx="105457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Why it matters —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four everyday workflows covered on day one — and the same pattern extends to any department.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AGENT 01 · SAS VIYA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From Question to Model —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6492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565A"/>
                </a:solidFill>
                <a:latin typeface="Arial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64922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350" b="0" i="0">
                <a:solidFill>
                  <a:srgbClr val="1F2A37"/>
                </a:solidFill>
                <a:latin typeface="Arial"/>
              </a:rPr>
              <a:t>Ask in plain language — it finds the right data, profiles it, and explains what’s in 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350" b="0" i="0">
                <a:solidFill>
                  <a:srgbClr val="1F2A37"/>
                </a:solidFill>
                <a:latin typeface="Arial"/>
              </a:rPr>
              <a:t>Builds and compares machine-learning models with SAS AutoML — then scores new cases in real time.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350" b="0" i="0">
                <a:solidFill>
                  <a:srgbClr val="1F2A37"/>
                </a:solidFill>
                <a:latin typeface="Arial"/>
              </a:rPr>
              <a:t>Creates realistic demo data on request — ready for workshops and training.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350" b="0" i="0">
                <a:solidFill>
                  <a:srgbClr val="1F2A37"/>
                </a:solidFill>
                <a:latin typeface="Arial"/>
              </a:rPr>
              <a:t>Answers “how do I…?” questions from official SAS documentation, with 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224528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3565A"/>
                </a:solidFill>
                <a:latin typeface="Arial"/>
              </a:rPr>
              <a:t>BEHIND THE SCENES, IT LEADS A TEAM OF SPECIALISTS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720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572000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32954"/>
                </a:solidFill>
                <a:latin typeface="Arial"/>
              </a:rPr>
              <a:t>Data Steward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4832" y="457200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4572000"/>
            <a:ext cx="14813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32954"/>
                </a:solidFill>
                <a:latin typeface="Arial"/>
              </a:rPr>
              <a:t>Data Engineer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94176" y="457200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4572000"/>
            <a:ext cx="14813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32954"/>
                </a:solidFill>
                <a:latin typeface="Arial"/>
              </a:rPr>
              <a:t>Model Builder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92624"/>
            <a:ext cx="2121408" cy="310896"/>
          </a:xfrm>
          <a:prstGeom prst="roundRect">
            <a:avLst>
              <a:gd name="adj" fmla="val 500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992624"/>
            <a:ext cx="21214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32954"/>
                </a:solidFill>
                <a:latin typeface="Arial"/>
              </a:rPr>
              <a:t>Insights &amp; Reporting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" y="4992624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4992624"/>
            <a:ext cx="15727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32954"/>
                </a:solidFill>
                <a:latin typeface="Arial"/>
              </a:rPr>
              <a:t>Platform Guide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17136" y="4992624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4992624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32954"/>
                </a:solidFill>
                <a:latin typeface="Arial"/>
              </a:rPr>
              <a:t>Dashboard Designer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481328"/>
            <a:ext cx="4297680" cy="3017520"/>
          </a:xfrm>
          <a:prstGeom prst="roundRect">
            <a:avLst>
              <a:gd name="adj" fmla="val 4500"/>
            </a:avLst>
          </a:prstGeom>
          <a:solidFill>
            <a:srgbClr val="032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171907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FC1F2"/>
                </a:solidFill>
                <a:latin typeface="Arial"/>
              </a:rPr>
              <a:t>JUST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048256"/>
            <a:ext cx="3749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“What data do we have about suppliers?”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“Build a model that predicts payment delays — and score this invoice with it.”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“How do I publish a model? Show me the official steps.”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645152"/>
            <a:ext cx="42976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4754880"/>
            <a:ext cx="50292" cy="512064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4645152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IN THE DEMO — </a:t>
            </a:r>
            <a:r>
              <a:rPr sz="1150" b="0" i="0">
                <a:solidFill>
                  <a:srgbClr val="1F2A37"/>
                </a:solidFill>
                <a:latin typeface="Arial"/>
              </a:rPr>
              <a:t>data explored and a model built, from one request.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779008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ED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870448"/>
            <a:ext cx="50292" cy="3840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79008"/>
            <a:ext cx="105457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Why it matters —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analytics without the queue — business teams get answers in minutes, and everything stays inside your governed SAS environment.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AGENT 01 · SAS VIYA COPILOT ·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Dashboards on Demand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391759" cy="3383280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5391759" cy="82296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74519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32954"/>
                </a:solidFill>
                <a:latin typeface="Arial"/>
              </a:rPr>
              <a:t>Show &amp; 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450592"/>
            <a:ext cx="476996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“Show me the procurement dashboard and analyze it.”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The dashboard appears right in the chat — together with the story behind the numbers.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One click opens the live version in SAS Visual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72768"/>
            <a:ext cx="5391759" cy="3383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72768"/>
            <a:ext cx="5391759" cy="82296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3903" y="1874519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32954"/>
                </a:solidFill>
                <a:latin typeface="Arial"/>
              </a:rPr>
              <a:t>Create &amp; improve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903" y="2450592"/>
            <a:ext cx="476996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Starts from your NCGR-branded template — your design, your identity.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The copilot fills it with the data you name and saves it as a new dashboard, shown in the chat.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It advises like a BI consultant: what to add, what to track, what to drop.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779008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ED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870448"/>
            <a:ext cx="50292" cy="3840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Why it matters —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the copilot doesn’t just build what you ask — it recommends more:  “add a KPI for single-bid awards, so you can track competition at a glance.”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Arial"/>
              </a:rPr>
              <a:t>AGENT 02 · SAS VISUAL INVESTIGATOR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A Morning Briefing for Every Investigator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6492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565A"/>
                </a:solidFill>
                <a:latin typeface="Arial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6492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0E7490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Reads the alert queue and tells each investigator what to look at first — and why.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0E7490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Explains in plain language why an alert fired, and gathers the full picture around 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0E7490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Maps the network: which people, companies, and accounts are connected — and how.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0E7490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Flags likely false positives and recommends the next action, so effort goes where it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81328"/>
            <a:ext cx="4297680" cy="3017520"/>
          </a:xfrm>
          <a:prstGeom prst="roundRect">
            <a:avLst>
              <a:gd name="adj" fmla="val 4500"/>
            </a:avLst>
          </a:prstGeom>
          <a:solidFill>
            <a:srgbClr val="032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71907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FC1F2"/>
                </a:solidFill>
                <a:latin typeface="Arial"/>
              </a:rPr>
              <a:t>JUST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48256"/>
            <a:ext cx="3749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“What should I look at first today?”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“Why did this alert fire — could it be a false positive?”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“Who is connected to this supplier, and through what?”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645152"/>
            <a:ext cx="42976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754880"/>
            <a:ext cx="50292" cy="5120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4645152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Arial"/>
              </a:rPr>
              <a:t>IN THE DEMO — </a:t>
            </a:r>
            <a:r>
              <a:rPr sz="1150" b="0" i="0">
                <a:solidFill>
                  <a:srgbClr val="1F2A37"/>
                </a:solidFill>
                <a:latin typeface="Arial"/>
              </a:rPr>
              <a:t>a briefing on today’s alert queue, then one case end-to-end.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779008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ED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870448"/>
            <a:ext cx="50292" cy="3840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Why it matters —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investigators spend their day investigating — not sorting alerts — and new team members work like veterans from day 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6E4F"/>
                </a:solidFill>
                <a:latin typeface="Arial"/>
              </a:rPr>
              <a:t>AGENT 03 · PROCUREMENT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A Watchdog Over Every Tender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6492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565A"/>
                </a:solidFill>
                <a:latin typeface="Arial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6492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0B6E4F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Watches tenders, bids, suppliers, and invoices across government entities for red flags.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0B6E4F"/>
                </a:solidFill>
                <a:latin typeface="Arial"/>
              </a:rPr>
              <a:t>▪  </a:t>
            </a:r>
            <a:r>
              <a:rPr sz="1450" b="1" i="0">
                <a:solidFill>
                  <a:srgbClr val="1F2A37"/>
                </a:solidFill>
                <a:latin typeface="Arial"/>
              </a:rPr>
              <a:t>Ready-made analytics: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supplier risk scores, a bid-rigging screen, and price-anomaly detection.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0B6E4F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Surfaces patterns people miss — rotating bid winners, purchases split to stay under approval thresholds, duplicate invoices.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0B6E4F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Answers with numbers and charts, not opinions — every figure drill-down-able in conversation.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81328"/>
            <a:ext cx="4297680" cy="3017520"/>
          </a:xfrm>
          <a:prstGeom prst="roundRect">
            <a:avLst>
              <a:gd name="adj" fmla="val 4500"/>
            </a:avLst>
          </a:prstGeom>
          <a:solidFill>
            <a:srgbClr val="032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71907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FC1F2"/>
                </a:solidFill>
                <a:latin typeface="Arial"/>
              </a:rPr>
              <a:t>JUST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48256"/>
            <a:ext cx="3749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“Who are our riskiest suppliers right now?”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“Run the bid-rigging screen on IT tenders.”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“How much are we overpaying versus market prices?”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645152"/>
            <a:ext cx="42976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754880"/>
            <a:ext cx="50292" cy="512064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4645152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6E4F"/>
                </a:solidFill>
                <a:latin typeface="Arial"/>
              </a:rPr>
              <a:t>IN THE DEMO — </a:t>
            </a:r>
            <a:r>
              <a:rPr sz="1150" b="0" i="0">
                <a:solidFill>
                  <a:srgbClr val="1F2A37"/>
                </a:solidFill>
                <a:latin typeface="Arial"/>
              </a:rPr>
              <a:t>a bid-rotation ring uncovered — with the charts to prove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779008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ED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870448"/>
            <a:ext cx="50292" cy="384048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Why it matters —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integrity issues surface before contract award — when they are cheapest to fix.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5309"/>
                </a:solidFill>
                <a:latin typeface="Arial"/>
              </a:rPr>
              <a:t>AGENT 04 · GLOBAL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Eyes on the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6492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565A"/>
                </a:solidFill>
                <a:latin typeface="Arial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6492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B45309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Scans global news and publications on demand — in seconds, not days.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B45309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Benchmarks NCGR against the world: what other governments are doing on procurement oversight and AI.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B45309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Tracks emerging technologies and summarizes what they mean for your roadmap.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 i="0">
                <a:solidFill>
                  <a:srgbClr val="B45309"/>
                </a:solidFill>
                <a:latin typeface="Arial"/>
              </a:rPr>
              <a:t>▪  </a:t>
            </a:r>
            <a:r>
              <a:rPr sz="1450" b="0" i="0">
                <a:solidFill>
                  <a:srgbClr val="1F2A37"/>
                </a:solidFill>
                <a:latin typeface="Arial"/>
              </a:rPr>
              <a:t>Every answer carries its sources — open the original articles in one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81328"/>
            <a:ext cx="4297680" cy="3017520"/>
          </a:xfrm>
          <a:prstGeom prst="roundRect">
            <a:avLst>
              <a:gd name="adj" fmla="val 4500"/>
            </a:avLst>
          </a:prstGeom>
          <a:solidFill>
            <a:srgbClr val="032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71907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FC1F2"/>
                </a:solidFill>
                <a:latin typeface="Arial"/>
              </a:rPr>
              <a:t>JUST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48256"/>
            <a:ext cx="3749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“What are other countries doing on AI-driven procurement oversight?”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“What changed in agentic AI this month?”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“Summarize best practice for supplier risk monitoring.”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645152"/>
            <a:ext cx="42976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754880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4645152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5309"/>
                </a:solidFill>
                <a:latin typeface="Arial"/>
              </a:rPr>
              <a:t>IN THE DEMO — </a:t>
            </a:r>
            <a:r>
              <a:rPr sz="1150" b="0" i="0">
                <a:solidFill>
                  <a:srgbClr val="1F2A37"/>
                </a:solidFill>
                <a:latin typeface="Arial"/>
              </a:rPr>
              <a:t>a live, cited scan of what other governments are doing.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779008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ED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870448"/>
            <a:ext cx="50292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Why it matters —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decisions informed by what’s happening outside — without standing up a research team.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SOVEREIGNTY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Built for the Kingdom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391759" cy="1810512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50292" cy="1554480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92224"/>
            <a:ext cx="476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Arabic at one click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249424"/>
            <a:ext cx="4769967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A37"/>
                </a:solidFill>
                <a:latin typeface="Arial"/>
              </a:rPr>
              <a:t>The عربي button flips the whole experience — interface and answers — into Arabic, and back again. The choice is remembered.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72768"/>
            <a:ext cx="5391759" cy="1810512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700784"/>
            <a:ext cx="50292" cy="1554480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3903" y="1792224"/>
            <a:ext cx="476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Your data stays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903" y="2249424"/>
            <a:ext cx="4769967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A37"/>
                </a:solidFill>
                <a:latin typeface="Arial"/>
              </a:rPr>
              <a:t>Designed to run with an on-premises AI model: questions, data, and answers never have to leave your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21024"/>
            <a:ext cx="5391759" cy="1810512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749039"/>
            <a:ext cx="50292" cy="1554480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840480"/>
            <a:ext cx="476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Every answer shows its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297680"/>
            <a:ext cx="4769967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A37"/>
                </a:solidFill>
                <a:latin typeface="Arial"/>
              </a:rPr>
              <a:t>A full trail of the steps, tools, and data behind each answer — ready for audit and review at any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3621024"/>
            <a:ext cx="5391759" cy="1810512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749039"/>
            <a:ext cx="50292" cy="1554480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3903" y="3840480"/>
            <a:ext cx="476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Grows with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4297680"/>
            <a:ext cx="4769967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A37"/>
                </a:solidFill>
                <a:latin typeface="Arial"/>
              </a:rPr>
              <a:t>Start with four agents; add one per department or use case. The same design carries forward into SAS RAM as it evolves.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779008"/>
            <a:ext cx="11057839" cy="566928"/>
          </a:xfrm>
          <a:prstGeom prst="roundRect">
            <a:avLst>
              <a:gd name="adj" fmla="val 14000"/>
            </a:avLst>
          </a:prstGeom>
          <a:solidFill>
            <a:srgbClr val="ED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870448"/>
            <a:ext cx="50292" cy="3840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79008"/>
            <a:ext cx="105457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Why it matters — </a:t>
            </a:r>
            <a:r>
              <a:rPr sz="1250" b="0" i="0">
                <a:solidFill>
                  <a:srgbClr val="1F2A37"/>
                </a:solidFill>
                <a:latin typeface="Arial"/>
              </a:rPr>
              <a:t>a copilot aligned with Vision 2030 digital-sovereignty goals — modern AI, on national terms.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What You’ll See Today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572768"/>
            <a:ext cx="475488" cy="475488"/>
          </a:xfrm>
          <a:prstGeom prst="ellipse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72768"/>
            <a:ext cx="1034460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Arial"/>
              </a:rPr>
              <a:t>The SAS Viya Copilot explores data and builds a model — from a single plain-language request.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359152"/>
            <a:ext cx="475488" cy="475488"/>
          </a:xfrm>
          <a:prstGeom prst="ellipse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59152"/>
            <a:ext cx="1034460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Arial"/>
              </a:rPr>
              <a:t>A dashboard appears in the chat, analyzed — then a new one is created from the NCGR template.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145536"/>
            <a:ext cx="475488" cy="47548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45536"/>
            <a:ext cx="1034460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Arial"/>
              </a:rPr>
              <a:t>The Investigation Assistant briefs us on today’s alert queue and digs into one case.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931920"/>
            <a:ext cx="475488" cy="47548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931920"/>
            <a:ext cx="1034460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Arial"/>
              </a:rPr>
              <a:t>The Procurement Analyst uncovers a bid-rotation ring — with the charts to prove it.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718304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18304"/>
            <a:ext cx="1034460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Arial"/>
              </a:rPr>
              <a:t>Global Intelligence reports what other countries are doing — with cited 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875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All live — </a:t>
            </a:r>
            <a:r>
              <a:rPr sz="1250" b="0" i="0">
                <a:solidFill>
                  <a:srgbClr val="53565A"/>
                </a:solidFill>
                <a:latin typeface="Arial"/>
              </a:rPr>
              <a:t>every step the agents take is visible on screen as they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384048" cy="41148"/>
          </a:xfrm>
          <a:prstGeom prst="rect">
            <a:avLst/>
          </a:prstGeom>
          <a:solidFill>
            <a:srgbClr val="8FC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C1F2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From Demo to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3529584" cy="2651760"/>
          </a:xfrm>
          <a:prstGeom prst="roundRect">
            <a:avLst>
              <a:gd name="adj" fmla="val 5500"/>
            </a:avLst>
          </a:prstGeom>
          <a:solidFill>
            <a:srgbClr val="0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5740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FC1F2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87752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Choose the first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82112"/>
            <a:ext cx="29443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E"/>
                </a:solidFill>
                <a:latin typeface="Arial"/>
              </a:rPr>
              <a:t>Pick two or three high-value workflows — procurement integrity is ready to start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783080"/>
            <a:ext cx="3529584" cy="2651760"/>
          </a:xfrm>
          <a:prstGeom prst="roundRect">
            <a:avLst>
              <a:gd name="adj" fmla="val 5500"/>
            </a:avLst>
          </a:prstGeom>
          <a:solidFill>
            <a:srgbClr val="0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05740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FC1F2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587752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Connect your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182112"/>
            <a:ext cx="29443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E"/>
                </a:solidFill>
                <a:latin typeface="Arial"/>
              </a:rPr>
              <a:t>Your SAS platform, your data, and the AI model of your choice — on-premises or cloud.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783080"/>
            <a:ext cx="3529584" cy="2651760"/>
          </a:xfrm>
          <a:prstGeom prst="roundRect">
            <a:avLst>
              <a:gd name="adj" fmla="val 5500"/>
            </a:avLst>
          </a:prstGeom>
          <a:solidFill>
            <a:srgbClr val="0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05740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FC1F2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587752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Pilot with your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3182112"/>
            <a:ext cx="29443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E"/>
                </a:solidFill>
                <a:latin typeface="Arial"/>
              </a:rPr>
              <a:t>Measure time saved and decision quality — then expand, agent by agent.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206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شكراً</a:t>
            </a:r>
            <a:r>
              <a:rPr sz="3000" b="1" i="0">
                <a:solidFill>
                  <a:srgbClr val="FFFFFF"/>
                </a:solidFill>
                <a:latin typeface="Arial"/>
              </a:rPr>
              <a:t>    —    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9436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FC1F2"/>
                </a:solidFill>
                <a:latin typeface="Arial"/>
              </a:rPr>
              <a:t>Raed Aldweik  ·  SAS Middle East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sas.com   ·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NCGR AI Copilot — SAS Agentic AI in Action</dc:title>
  <dc:subject/>
  <dc:creator>SAS Middle East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