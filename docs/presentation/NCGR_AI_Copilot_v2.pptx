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g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02920"/>
            <a:ext cx="960120" cy="960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2103120"/>
            <a:ext cx="548640" cy="50292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340864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C1F2"/>
                </a:solidFill>
                <a:latin typeface="Arial"/>
              </a:rPr>
              <a:t>SAS MIDDLE EAST  ·  AGENTIC AI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1064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The NCGR AI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FC1F2"/>
                </a:solidFill>
                <a:latin typeface="Arial"/>
              </a:rPr>
              <a:t>«مُعين»</a:t>
            </a:r>
            <a:r>
              <a:rPr sz="1700" b="0" i="0">
                <a:solidFill>
                  <a:srgbClr val="8FC1F2"/>
                </a:solidFill>
                <a:latin typeface="Arial"/>
              </a:rPr>
              <a:t>   —   your platform, your data, your choice of AI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42432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National Center for Government Resources Systems (NCGR)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FC2DA"/>
                </a:solidFill>
                <a:latin typeface="Arial"/>
              </a:rPr>
              <a:t>SAS Middle East  · 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sas.com   ·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Your Copilot, On Your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3529584" cy="310896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3529584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12848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66D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07792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32954"/>
                </a:solidFill>
                <a:latin typeface="Arial"/>
              </a:rPr>
              <a:t>Your AI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20440"/>
            <a:ext cx="2907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Arial"/>
              </a:rPr>
              <a:t>Cloud today. Fully on-premises tomorrow. Swap it anytime.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828800"/>
            <a:ext cx="3529584" cy="310896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828800"/>
            <a:ext cx="3529584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12848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66D1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07792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32954"/>
                </a:solidFill>
                <a:latin typeface="Arial"/>
              </a:rPr>
              <a:t>Your SAS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520440"/>
            <a:ext cx="2907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Arial"/>
              </a:rPr>
              <a:t>Real data, real models, real dashboards — not chatbot guesses.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828800"/>
            <a:ext cx="3529584" cy="310896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828800"/>
            <a:ext cx="3529584" cy="8229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66D1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07792"/>
            <a:ext cx="29077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32954"/>
                </a:solidFill>
                <a:latin typeface="Arial"/>
              </a:rPr>
              <a:t>Your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2907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Arial"/>
              </a:rPr>
              <a:t>English  ⇄  Arabic. One click.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ONE CHAT · FOUR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Meet Your AI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92224"/>
            <a:ext cx="128016" cy="128016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7373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SAS Viya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06654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3565A"/>
                </a:solidFill>
                <a:latin typeface="Arial"/>
              </a:rPr>
              <a:t>Data, models &amp; dashboards on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761488"/>
            <a:ext cx="128016" cy="12801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70662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Investigation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358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3565A"/>
                </a:solidFill>
                <a:latin typeface="Arial"/>
              </a:rPr>
              <a:t>Alert triage for Visual Investigator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30751"/>
            <a:ext cx="128016" cy="128016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75887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Procurement Integrity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3565A"/>
                </a:solidFill>
                <a:latin typeface="Arial"/>
              </a:rPr>
              <a:t>A watchdog over every tender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00016"/>
            <a:ext cx="128016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6451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32954"/>
                </a:solidFill>
                <a:latin typeface="Arial"/>
              </a:rPr>
              <a:t>Global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7433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3565A"/>
                </a:solidFill>
                <a:latin typeface="Arial"/>
              </a:rPr>
              <a:t>The world's playbook — with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06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766D1"/>
                </a:solidFill>
                <a:latin typeface="Arial"/>
              </a:rPr>
              <a:t>One window. Pick an agent. Ask.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1463040"/>
            <a:ext cx="6528816" cy="440512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481328"/>
            <a:ext cx="649224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48655" y="1600200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04103" y="1600200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9551" y="1600200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79007" y="1540764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1527048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25" name="Picture 24" descr="shot_dropd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92224"/>
            <a:ext cx="6492240" cy="405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AGENT 01 · SAS VIYA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Ask. It Finds, Builds, Explains.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Finds and profiles your 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Builds models with SAS AutoML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Scores new cases in real time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766D1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Answers from official SAS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Behind the scenes: </a:t>
            </a:r>
            <a:r>
              <a:rPr sz="1250" b="0" i="0">
                <a:solidFill>
                  <a:srgbClr val="53565A"/>
                </a:solidFill>
                <a:latin typeface="Arial"/>
              </a:rPr>
              <a:t>a team of six specialist agents — visible in the trace.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752" y="1463040"/>
            <a:ext cx="6757416" cy="454799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1481328"/>
            <a:ext cx="672084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0055" y="1600200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75503" y="1600200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30951" y="1600200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407" y="1540764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527048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14" name="Picture 13" descr="shot_copil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92224"/>
            <a:ext cx="6720840" cy="42005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AGENT 01 ·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Dashboards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32954"/>
                </a:solidFill>
                <a:latin typeface="Arial"/>
              </a:rPr>
              <a:t>Show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87168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66D1"/>
                </a:solidFill>
                <a:latin typeface="Arial"/>
              </a:rPr>
              <a:t>Analyze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45536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32954"/>
                </a:solidFill>
                <a:latin typeface="Arial"/>
              </a:rPr>
              <a:t>Create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6052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3565A"/>
                </a:solidFill>
                <a:latin typeface="Arial"/>
              </a:rPr>
              <a:t>It advises like a BI consultant: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1">
                <a:solidFill>
                  <a:srgbClr val="032954"/>
                </a:solidFill>
                <a:latin typeface="Arial"/>
              </a:rPr>
              <a:t>“Add a KPI for single-bid awards, so you can track competition at a glance.”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3752" y="1463040"/>
            <a:ext cx="6757416" cy="454799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2040" y="1481328"/>
            <a:ext cx="672084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0055" y="1600200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75503" y="1600200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30951" y="1600200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50407" y="1540764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527048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16" name="Picture 15" descr="shot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92224"/>
            <a:ext cx="6720840" cy="42005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Arial"/>
              </a:rPr>
              <a:t>AGENT 02 · SAS VISUAL INVESTIGATOR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Your Morning Briefing.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Prioritizes the alert queue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Explains why each alert fired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Maps hidden networks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E749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Flags likely false positives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Investigators investigate — </a:t>
            </a:r>
            <a:r>
              <a:rPr sz="1250" b="0" i="0">
                <a:solidFill>
                  <a:srgbClr val="53565A"/>
                </a:solidFill>
                <a:latin typeface="Arial"/>
              </a:rPr>
              <a:t>the sorting is already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752" y="1463040"/>
            <a:ext cx="6757416" cy="454799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1481328"/>
            <a:ext cx="672084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0055" y="1600200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75503" y="1600200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30951" y="1600200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407" y="1540764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527048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14" name="Picture 13" descr="shot_v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92224"/>
            <a:ext cx="6720840" cy="42005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6E4F"/>
                </a:solidFill>
                <a:latin typeface="Arial"/>
              </a:rPr>
              <a:t>AGENT 03 · PROCUREMENT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Red Flags Before Award.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Supplier risk scores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Bid-rigging screen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Price-anomaly detection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B6E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Split purchases &amp; duplicate invoices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Catch it before contract award — </a:t>
            </a:r>
            <a:r>
              <a:rPr sz="1250" b="0" i="0">
                <a:solidFill>
                  <a:srgbClr val="53565A"/>
                </a:solidFill>
                <a:latin typeface="Arial"/>
              </a:rPr>
              <a:t>when it's cheapest to fix.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752" y="1463040"/>
            <a:ext cx="6757416" cy="454799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1481328"/>
            <a:ext cx="672084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0055" y="1600200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75503" y="1600200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30951" y="1600200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407" y="1540764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527048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14" name="Picture 13" descr="shot_procur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92224"/>
            <a:ext cx="6720840" cy="42005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Arial"/>
              </a:rPr>
              <a:t>AGENT 04 · GLOBAL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The World, Cited.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What other countries are doing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Emerging tech, summarized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Monitored topics, on schedule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45309"/>
                </a:solidFill>
                <a:latin typeface="Arial"/>
              </a:rPr>
              <a:t>▪ 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Every answer carries its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Benchmark decisions — </a:t>
            </a:r>
            <a:r>
              <a:rPr sz="1250" b="0" i="0">
                <a:solidFill>
                  <a:srgbClr val="53565A"/>
                </a:solidFill>
                <a:latin typeface="Arial"/>
              </a:rPr>
              <a:t>without standing up a research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752" y="1463040"/>
            <a:ext cx="6757416" cy="454799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1481328"/>
            <a:ext cx="672084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0055" y="1600200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75503" y="1600200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30951" y="1600200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407" y="1540764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527048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14" name="Picture 13" descr="shot_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92224"/>
            <a:ext cx="6720840" cy="42005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SOVEREIGNTY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Built for the Kingdom.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6757416" cy="454799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672084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4944" y="1600200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600200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600200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25295" y="1540764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27048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12" name="Picture 11" descr="shot_arab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92224"/>
            <a:ext cx="6720840" cy="42005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53527" y="1600200"/>
            <a:ext cx="3971239" cy="123444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53527" y="1709928"/>
            <a:ext cx="50292" cy="1014984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764792"/>
            <a:ext cx="3514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32954"/>
                </a:solidFill>
                <a:latin typeface="Arial"/>
              </a:rPr>
              <a:t>عربي — one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2221992"/>
            <a:ext cx="3514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A37"/>
                </a:solidFill>
                <a:latin typeface="Arial"/>
              </a:rPr>
              <a:t>The whole experience flips: interface, answers, 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53527" y="3017520"/>
            <a:ext cx="3971239" cy="123444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53527" y="3127248"/>
            <a:ext cx="50292" cy="1014984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3182112"/>
            <a:ext cx="3514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32954"/>
                </a:solidFill>
                <a:latin typeface="Arial"/>
              </a:rPr>
              <a:t>Data stays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3639312"/>
            <a:ext cx="3514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A37"/>
                </a:solidFill>
                <a:latin typeface="Arial"/>
              </a:rPr>
              <a:t>Runs with an on-premises AI model. Nothing leaves.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53527" y="4434840"/>
            <a:ext cx="3971239" cy="1234440"/>
          </a:xfrm>
          <a:prstGeom prst="roundRect">
            <a:avLst>
              <a:gd name="adj" fmla="val 5500"/>
            </a:avLst>
          </a:prstGeom>
          <a:solidFill>
            <a:srgbClr val="EDF4FC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53527" y="4544568"/>
            <a:ext cx="50292" cy="1014984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4599431"/>
            <a:ext cx="3514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32954"/>
                </a:solidFill>
                <a:latin typeface="Arial"/>
              </a:rPr>
              <a:t>Every answer shows its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5056631"/>
            <a:ext cx="3514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A37"/>
                </a:solidFill>
                <a:latin typeface="Arial"/>
              </a:rPr>
              <a:t>Steps, tools, and data — audit-ready.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384048" cy="4114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657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66D1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32954"/>
                </a:solidFill>
                <a:latin typeface="Arial"/>
              </a:rPr>
              <a:t>What You'll See Today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645920"/>
            <a:ext cx="475488" cy="475488"/>
          </a:xfrm>
          <a:prstGeom prst="ellipse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0"/>
            <a:ext cx="5212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Arial"/>
              </a:rPr>
              <a:t>A model built from one sentence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487168"/>
            <a:ext cx="475488" cy="475488"/>
          </a:xfrm>
          <a:prstGeom prst="ellipse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487168"/>
            <a:ext cx="5212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Arial"/>
              </a:rPr>
              <a:t>A dashboard, shown and analyzed in chat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328416"/>
            <a:ext cx="475488" cy="47548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28416"/>
            <a:ext cx="5212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Arial"/>
              </a:rPr>
              <a:t>Today's alerts, triaged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169664"/>
            <a:ext cx="475488" cy="47548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169664"/>
            <a:ext cx="5212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Arial"/>
              </a:rPr>
              <a:t>A bid-rotation ring, uncovered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01091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010912"/>
            <a:ext cx="5212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Arial"/>
              </a:rPr>
              <a:t>The world scanned — with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9672" y="1764792"/>
            <a:ext cx="5111496" cy="3519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1783080"/>
            <a:ext cx="5074920" cy="310896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5976" y="1901952"/>
            <a:ext cx="73152" cy="73152"/>
          </a:xfrm>
          <a:prstGeom prst="ellipse">
            <a:avLst/>
          </a:prstGeom>
          <a:solidFill>
            <a:srgbClr val="E87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1424" y="1901952"/>
            <a:ext cx="73152" cy="731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6872" y="1901952"/>
            <a:ext cx="73152" cy="73152"/>
          </a:xfrm>
          <a:prstGeom prst="ellipse">
            <a:avLst/>
          </a:prstGeom>
          <a:solidFill>
            <a:srgbClr val="6F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96328" y="1842516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1828800"/>
            <a:ext cx="2926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ncgr-copilot.up.railway.app</a:t>
            </a:r>
          </a:p>
        </p:txBody>
      </p:sp>
      <p:pic>
        <p:nvPicPr>
          <p:cNvPr id="22" name="Picture 21" descr="shot_tr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93976"/>
            <a:ext cx="5074920" cy="3171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60" y="53492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2954"/>
                </a:solidFill>
                <a:latin typeface="Arial"/>
              </a:rPr>
              <a:t>Every step the agents take — visible.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sas.com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6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384048" cy="41148"/>
          </a:xfrm>
          <a:prstGeom prst="rect">
            <a:avLst/>
          </a:prstGeom>
          <a:solidFill>
            <a:srgbClr val="8FC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C1F2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From Demo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3529584" cy="2286000"/>
          </a:xfrm>
          <a:prstGeom prst="roundRect">
            <a:avLst>
              <a:gd name="adj" fmla="val 5500"/>
            </a:avLst>
          </a:prstGeom>
          <a:solidFill>
            <a:srgbClr val="0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9456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FC1F2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24912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Pick the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55264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E"/>
                </a:solidFill>
                <a:latin typeface="Arial"/>
              </a:rPr>
              <a:t>Procurement integrity is ready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20240"/>
            <a:ext cx="3529584" cy="2286000"/>
          </a:xfrm>
          <a:prstGeom prst="roundRect">
            <a:avLst>
              <a:gd name="adj" fmla="val 5500"/>
            </a:avLst>
          </a:prstGeom>
          <a:solidFill>
            <a:srgbClr val="0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19456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FC1F2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724912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Connect your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255264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E"/>
                </a:solidFill>
                <a:latin typeface="Arial"/>
              </a:rPr>
              <a:t>Your SAS, your data, your AI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920240"/>
            <a:ext cx="3529584" cy="2286000"/>
          </a:xfrm>
          <a:prstGeom prst="roundRect">
            <a:avLst>
              <a:gd name="adj" fmla="val 5500"/>
            </a:avLst>
          </a:prstGeom>
          <a:solidFill>
            <a:srgbClr val="0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19456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FC1F2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724912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Pilot &amp;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255264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E"/>
                </a:solidFill>
                <a:latin typeface="Arial"/>
              </a:rPr>
              <a:t>Measure. Expand agent by agent.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0292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شكراً</a:t>
            </a:r>
            <a:r>
              <a:rPr sz="3000" b="1" i="0">
                <a:solidFill>
                  <a:srgbClr val="FFFFFF"/>
                </a:solidFill>
                <a:latin typeface="Arial"/>
              </a:rPr>
              <a:t>    —    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FC1F2"/>
                </a:solidFill>
                <a:latin typeface="Arial"/>
              </a:rPr>
              <a:t>Raed Aldweik  ·  SAS Middle East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47104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Company Confidential — For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287" y="654710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Copyright © SAS Institute Inc.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54710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E7A9B"/>
                </a:solidFill>
                <a:latin typeface="Arial"/>
              </a:rPr>
              <a:t>sas.com   ·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NCGR AI Copilot — SAS Agentic AI in Action</dc:title>
  <dc:subject/>
  <dc:creator>SAS Middle East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